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live URL ready in another tab. One sentence on what it is, then go straight to the problem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framing drives every design decision that follows: gates, not just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Stress: crawlability is a node in the graph, not a helper inside fetch. Fan-out uses LangGraph Send with reducers so parallel branches never overwrite each other. Progress streams to the UI over 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justify exclusions: statistics are poor graph entities; rejected claims never reach vector or graph; nothing lives only in the vector store. Provenance chain: edge -&gt; episode -&gt; claims -&gt; quote -&gt; source -&gt; crawl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Consequence of the fact checker: unsupported and missing claims are excluded from verified ids, so they never reach vector, graph, answers or the report. Example it caught: "7.4 million coronary deaths in Kenya" was a global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research a city they name, open findings while the graph builds, show a national-only category, open one "where did this come from", then Ask with a follow-up, then a question it should refuse.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cut is a bounded addition to the existing structure, not a redesign. Human review attaches at the fact-check gate; the audit trail already holds what a reviewer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280160"/>
            <a:ext cx="4754880" cy="4754880"/>
          </a:xfrm>
          <a:prstGeom prst="ellipse">
            <a:avLst/>
          </a:prstGeom>
          <a:solidFill>
            <a:srgbClr val="0B5C6B">
              <a:alpha val="45000"/>
            </a:srgbClr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103120"/>
            <a:ext cx="3291840" cy="3291840"/>
          </a:xfrm>
          <a:prstGeom prst="ellipse">
            <a:avLst/>
          </a:prstGeom>
          <a:solidFill>
            <a:srgbClr val="B4532A">
              <a:alpha val="30000"/>
            </a:srgbClr>
          </a:solidFill>
          <a:ln w="12700">
            <a:solidFill>
              <a:srgbClr val="B453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SR. SPECIALIST, DATA SCIENCE &amp; AI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a city before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walk into the room.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research system for CARDIO4Cities City Leads: live web research, independently fact-checked, every fact traceable to its source, and honest about what is not known.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</a:t>
            </a:r>
            <a:pPr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case-study-nov-ft.onrender.com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github.com/msmsriram/case-study-nov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Sriram 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AS I UNDERSTAND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risk: saying something wrong in the room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 Lead meets government and healthcare leaders in a city nobody on the team has researched. A fluent model can fail them in three specific ways: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01952"/>
            <a:ext cx="2596896" cy="1664208"/>
          </a:xfrm>
          <a:prstGeom prst="roundRect">
            <a:avLst>
              <a:gd name="adj" fmla="val 4396"/>
            </a:avLst>
          </a:prstGeom>
          <a:solidFill>
            <a:srgbClr val="FBE6E4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66544"/>
            <a:ext cx="310896" cy="310896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0665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data dressed as local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05456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“24% of adults have hypertension” is a Kenya figure. Said about Nairobi, it is wrong, and someone in the room will know.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1901952"/>
            <a:ext cx="2596896" cy="1664208"/>
          </a:xfrm>
          <a:prstGeom prst="roundRect">
            <a:avLst>
              <a:gd name="adj" fmla="val 4396"/>
            </a:avLst>
          </a:prstGeom>
          <a:solidFill>
            <a:srgbClr val="FBE6E4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2066544"/>
            <a:ext cx="310896" cy="310896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49624" y="20665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specifics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505456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programme that does not exist, a director who never said that, an attitude nobody holds. Plausible, confident, unsourced.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25896" y="1901952"/>
            <a:ext cx="2596896" cy="1664208"/>
          </a:xfrm>
          <a:prstGeom prst="roundRect">
            <a:avLst>
              <a:gd name="adj" fmla="val 4396"/>
            </a:avLst>
          </a:prstGeom>
          <a:solidFill>
            <a:srgbClr val="FBE6E4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2066544"/>
            <a:ext cx="310896" cy="310896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20665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about gaps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2505456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city-level prevalence exists. If the system hides that, the Lead walks in believing they are briefed.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E2F0F1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8587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09651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user unless it traces to a source that permitted reading, a quote that exists in that source, and a second model that failed to disprove it. Absence of evidence is a reported result.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81888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CARDIO4Cities City Intelligence  ·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LangGraph workflow, two gates that can say no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E2F0F1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46304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Planner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06654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resolves city, 6 categories, records assumptions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020824" y="17830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EEF1F3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58568" y="146304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258568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206654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→ Tavily → Ollama → DDG, key rotation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17830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94760" y="1371600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FBE6E4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04488" y="146304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crawl_check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904488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Crawlability Agent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04488" y="206654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· robots.txt (RFC 9309) · probe, before any fetch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312664" y="17830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40680" y="1371600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EEF1F3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50408" y="146304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550408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Reader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550408" y="206654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rate-limited, official sources first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958584" y="17830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86600" y="1371600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E2F0F1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96328" y="146304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extract_claims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196328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Extractor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96328" y="206654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per document · quote must exist in source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2852928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FBE6E4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" y="29443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fact_check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12648" y="31455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Fact Checker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12648" y="354787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model · tries to falsify · corrects geography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020824" y="32644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148840" y="2852928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E2F0F1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258568" y="29443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258568" y="31455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Detector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258568" y="354787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disagreeing statistics, never picks a winner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666744" y="32644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94760" y="2852928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EEF1F3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904488" y="29443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gaps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3904488" y="31455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904488" y="354787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· national-only · single-source · outdated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312664" y="32644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40680" y="2852928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E3F3E9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50408" y="29443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550408" y="31455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Builder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550408" y="354787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audit trail + vector index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958584" y="32644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86600" y="2852928"/>
            <a:ext cx="1517904" cy="1280160"/>
          </a:xfrm>
          <a:prstGeom prst="roundRect">
            <a:avLst>
              <a:gd name="adj" fmla="val 5714"/>
            </a:avLst>
          </a:prstGeom>
          <a:solidFill>
            <a:srgbClr val="E3F3E9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96328" y="29443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build_graph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7196328" y="31455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Builder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196328" y="354787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Graphiti on Neo4j, verified relationships only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" y="43891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2F0F1"/>
          </a:solidFill>
          <a:ln w="9525">
            <a:solidFill>
              <a:srgbClr val="0B5C6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9808" y="4370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662379" y="43891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BE6E4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909267" y="4370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can stop a claim or a source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67758" y="43891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9525">
            <a:solidFill>
              <a:srgbClr val="5D667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714646" y="4370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19749" y="43891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3F3E9"/>
          </a:solidFill>
          <a:ln w="9525">
            <a:solidFill>
              <a:srgbClr val="1D7A4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66637" y="4370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writer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4023360" y="481888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shown: collect_claims, the reduce step after the fan-out.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502920" y="481888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CARDIO4Cities City Intelligence  ·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stores, each answering a different question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96896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081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0078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(Neon)  ·  The system of record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933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with its crawl decision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claim: quote, verdict, rationale, models, geography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claims too, for audit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Gaps, conflicts, conversations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3236976"/>
            <a:ext cx="2231136" cy="347472"/>
          </a:xfrm>
          <a:prstGeom prst="roundRect">
            <a:avLst>
              <a:gd name="adj" fmla="val 15789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23697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did this come from?”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1298448"/>
            <a:ext cx="2596896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081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70078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Cloud  ·  Recall by meaning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19933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claims only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source passages, labelled unverified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ONNX embeddings, no API key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point back to SQL ids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47288" y="3236976"/>
            <a:ext cx="2231136" cy="347472"/>
          </a:xfrm>
          <a:prstGeom prst="roundRect">
            <a:avLst>
              <a:gd name="adj" fmla="val 15789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47288" y="323697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we know about this?”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5896" y="1298448"/>
            <a:ext cx="2596896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14081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170078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Graphiti on Neo4j  ·  Relationships in time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19933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relationship claims only; statistics stay out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entities, one namespace per city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carry valid / invalid dates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Rebuildable from SQL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8776" y="3236976"/>
            <a:ext cx="2231136" cy="347472"/>
          </a:xfrm>
          <a:prstGeom prst="roundRect">
            <a:avLst>
              <a:gd name="adj" fmla="val 15789"/>
            </a:avLst>
          </a:prstGeom>
          <a:solidFill>
            <a:srgbClr val="E2F0F1"/>
          </a:solidFill>
          <a:ln w="12700">
            <a:solidFill>
              <a:srgbClr val="E2F0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08776" y="323697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runs, funds or partners with what?”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0E2A33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941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QUESTION TIME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142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resolved from conversation memory  →  Graphiti + Qdrant searched in parallel, SQL adds verdict and geography  →  numbered evidence  →  answer where every sentence cites it. “Ask” stays locked until the graph is ready, so no answer can bypass it.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81888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CARDIO4Cities City Intelligence  ·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checks between a web page and the City Lead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310896" cy="310896"/>
          </a:xfrm>
          <a:prstGeom prst="ellipse">
            <a:avLst/>
          </a:prstGeom>
          <a:solidFill>
            <a:srgbClr val="0B5C6B"/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we read it?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54533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Crawlability gate. We identify honestly as a bot and accept refusals.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310896" cy="310896"/>
          </a:xfrm>
          <a:prstGeom prst="ellipse">
            <a:avLst/>
          </a:prstGeom>
          <a:solidFill>
            <a:srgbClr val="0B5C6B"/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9385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quote real?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18541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searches the source text for the verbatim quote. No match, no claim.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310896" cy="310896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5786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disproved?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8254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model sees only claim + excerpt and tries to falsify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310896" cy="310896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2186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true?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34655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regional, national or global. The checker corrects the extractor.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913632"/>
            <a:ext cx="310896" cy="310896"/>
          </a:xfrm>
          <a:prstGeom prst="ellipse">
            <a:avLst/>
          </a:prstGeom>
          <a:solidFill>
            <a:srgbClr val="0B5C6B"/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3858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answer grounded?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10565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validated; confidence capped by the evidence actually cited.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4526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enforced in code    </a:t>
            </a:r>
            <a:pPr indent="0" marL="0">
              <a:buNone/>
            </a:pPr>
            <a:r>
              <a:rPr lang="en-US" sz="95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9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judged by an independent model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1298448"/>
            <a:ext cx="3794760" cy="3401568"/>
          </a:xfrm>
          <a:prstGeom prst="roundRect">
            <a:avLst>
              <a:gd name="adj" fmla="val 2151"/>
            </a:avLst>
          </a:prstGeom>
          <a:solidFill>
            <a:srgbClr val="E2F0F1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47488" y="14264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LIVE RUN  ·  NAIROBI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047488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5815584" y="1737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found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047488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5815584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us or unreachable: kept on record, never read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047488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5815584" y="2560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with a quote located in the source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047488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5815584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dropped: quote not in the source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047488" y="3383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5815584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by the fact checker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47488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5815584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labels corrected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047488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100" dirty="0"/>
          </a:p>
        </p:txBody>
      </p:sp>
      <p:sp>
        <p:nvSpPr>
          <p:cNvPr id="40" name="Text 38"/>
          <p:cNvSpPr txBox="1"/>
          <p:nvPr/>
        </p:nvSpPr>
        <p:spPr>
          <a:xfrm>
            <a:off x="5815584" y="4206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 reported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481888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CARDIO4Cities City Intelligence  ·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trust signals, not around a chat box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96896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444752"/>
            <a:ext cx="310896" cy="310896"/>
          </a:xfrm>
          <a:prstGeom prst="ellipse">
            <a:avLst/>
          </a:prstGeom>
          <a:solidFill>
            <a:srgbClr val="0B5C6B"/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444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8470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plain-language stages stream as they happen, including which sources refused us and why. Findings open before the graph finishes.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264408" y="1298448"/>
            <a:ext cx="2596896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44752"/>
            <a:ext cx="310896" cy="310896"/>
          </a:xfrm>
          <a:prstGeom prst="ellipse">
            <a:avLst/>
          </a:prstGeom>
          <a:solidFill>
            <a:srgbClr val="0B5C6B"/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31336" y="1444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470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local is this evidence?” One bar shows what share is about the city itself. Categories show no evidence, national only, or local.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025896" y="1298448"/>
            <a:ext cx="2596896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1444752"/>
            <a:ext cx="310896" cy="310896"/>
          </a:xfrm>
          <a:prstGeom prst="ellipse">
            <a:avLst/>
          </a:prstGeom>
          <a:solidFill>
            <a:srgbClr val="0B5C6B"/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90488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92824" y="1444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90488" y="18470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geography. Every fact has a verdict badge and “Where did this come from?”: quote, context, source, checker reasoning, models used.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02920" y="2980944"/>
            <a:ext cx="2596896" cy="1517904"/>
          </a:xfrm>
          <a:prstGeom prst="roundRect">
            <a:avLst>
              <a:gd name="adj" fmla="val 4819"/>
            </a:avLst>
          </a:prstGeom>
          <a:solidFill>
            <a:srgbClr val="E2F0F1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3127248"/>
            <a:ext cx="310896" cy="310896"/>
          </a:xfrm>
          <a:prstGeom prst="ellipse">
            <a:avLst/>
          </a:prstGeom>
          <a:solidFill>
            <a:srgbClr val="0B5C6B"/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69848" y="3127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city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" y="352958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Conversational, with memory for follow-ups. Clickable citation numbers; evidence panel separates what the answer used from what was merely retrieved.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264408" y="2980944"/>
            <a:ext cx="2596896" cy="1517904"/>
          </a:xfrm>
          <a:prstGeom prst="roundRect">
            <a:avLst>
              <a:gd name="adj" fmla="val 4819"/>
            </a:avLst>
          </a:prstGeom>
          <a:solidFill>
            <a:srgbClr val="E2F0F1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127248"/>
            <a:ext cx="310896" cy="310896"/>
          </a:xfrm>
          <a:prstGeom prst="ellipse">
            <a:avLst/>
          </a:prstGeom>
          <a:solidFill>
            <a:srgbClr val="0B5C6B"/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831336" y="3127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sources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52958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we do not know” is a first-class panel. Official sources we could not read are listed so the Lead can open them.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025896" y="2980944"/>
            <a:ext cx="2596896" cy="1517904"/>
          </a:xfrm>
          <a:prstGeom prst="roundRect">
            <a:avLst>
              <a:gd name="adj" fmla="val 4819"/>
            </a:avLst>
          </a:prstGeom>
          <a:solidFill>
            <a:srgbClr val="E2F0F1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0488" y="3127248"/>
            <a:ext cx="310896" cy="310896"/>
          </a:xfrm>
          <a:prstGeom prst="ellipse">
            <a:avLst/>
          </a:prstGeom>
          <a:solidFill>
            <a:srgbClr val="0B5C6B"/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9048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92824" y="3127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190488" y="352958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report. Body assembled from verified claims, never free-written. Only the summary is model-written, and it is citation-checked.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481888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CARDIO4Cities City Intelligence  ·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LIMITATIONS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chose, what it cost, and what I cut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bot identity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2984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spoof a browser. About a third of discovered URLs refuse us, including some government portals.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10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robots.txt (RFC 9309)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810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robots.txt means deny. Conservative by default, configurable.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225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models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3225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do not enforce JSON schemas: schema-in-prompt, validation, one repair, provider fallback. Graph entities carry types but no attributes.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build is slow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834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 s per episode, so it runs after findings are available and ingests relationship claims only.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34670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report body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3467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fluent than a generated narrative, but it cannot contain an unsourced sentence.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3913632"/>
            <a:ext cx="3977640" cy="786384"/>
          </a:xfrm>
          <a:prstGeom prst="roundRect">
            <a:avLst>
              <a:gd name="adj" fmla="val 9302"/>
            </a:avLst>
          </a:prstGeom>
          <a:solidFill>
            <a:srgbClr val="F6E6DF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986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FOR THE TIMEBOX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1879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rendering · human review queue at the fact-check gate · re-planning from gaps · authentication · scheduled re-research · labelled evaluation 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913632"/>
            <a:ext cx="3977640" cy="786384"/>
          </a:xfrm>
          <a:prstGeom prst="roundRect">
            <a:avLst>
              <a:gd name="adj" fmla="val 9302"/>
            </a:avLst>
          </a:prstGeom>
          <a:solidFill>
            <a:srgbClr val="E2F0F1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986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1879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about 2 to 3 min · graph about 5 min in the background · answers 3 to 8 s · 3 unseen cities run end to end on the deployed system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81888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CARDIO4Cities City Intelligence  · 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1737360"/>
            <a:ext cx="4389120" cy="4389120"/>
          </a:xfrm>
          <a:prstGeom prst="ellipse">
            <a:avLst/>
          </a:prstGeom>
          <a:solidFill>
            <a:srgbClr val="0B5C6B">
              <a:alpha val="40000"/>
            </a:srgbClr>
          </a:solidFill>
          <a:ln w="12700">
            <a:solidFill>
              <a:srgbClr val="0B5C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822960"/>
            <a:ext cx="2377440" cy="2377440"/>
          </a:xfrm>
          <a:prstGeom prst="ellipse">
            <a:avLst/>
          </a:prstGeom>
          <a:solidFill>
            <a:srgbClr val="B4532A">
              <a:alpha val="28000"/>
            </a:srgbClr>
          </a:solidFill>
          <a:ln w="12700">
            <a:solidFill>
              <a:srgbClr val="B453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a city.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10896" cy="310896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1214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it live, and watch which sources refuse us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310896" cy="310896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786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fact and trace it to its quote and source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310896" cy="310896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0358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category where only national data exists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493008"/>
            <a:ext cx="310896" cy="310896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4930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question, then a follow-up that needs memory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950208"/>
            <a:ext cx="310896" cy="310896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9502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something it should not answer, and see it decline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case-study-nov-ft.onrender.com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CARDIO4Cities City Intelligence</dc:title>
  <dc:subject>PptxGenJS Presentation</dc:subject>
  <dc:creator>Sriram M</dc:creator>
  <cp:lastModifiedBy>Sriram M</cp:lastModifiedBy>
  <cp:revision>1</cp:revision>
  <dcterms:created xsi:type="dcterms:W3CDTF">2026-09-17T21:04:58Z</dcterms:created>
  <dcterms:modified xsi:type="dcterms:W3CDTF">2026-09-17T21:04:58Z</dcterms:modified>
</cp:coreProperties>
</file>